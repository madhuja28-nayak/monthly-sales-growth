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Biryani Light" charset="1" panose="00000400000000000000"/>
      <p:regular r:id="rId18"/>
    </p:embeddedFont>
    <p:embeddedFont>
      <p:font typeface="Forum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8C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638078" y="4448905"/>
            <a:ext cx="4722745" cy="1389189"/>
            <a:chOff x="0" y="0"/>
            <a:chExt cx="6296994" cy="1852253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53030" cy="2654300"/>
              </a:xfrm>
              <a:custGeom>
                <a:avLst/>
                <a:gdLst/>
                <a:ahLst/>
                <a:cxnLst/>
                <a:rect r="r" b="b" t="t" l="l"/>
                <a:pathLst>
                  <a:path h="2654300" w="265303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523E27"/>
              </a:solidFill>
            </p:spPr>
          </p:sp>
        </p:grpSp>
        <p:sp>
          <p:nvSpPr>
            <p:cNvPr name="AutoShape 5" id="5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523E27"/>
            </a:solidFill>
          </p:spPr>
        </p: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523E27"/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3512702" y="2539884"/>
            <a:ext cx="13557206" cy="5207232"/>
            <a:chOff x="0" y="0"/>
            <a:chExt cx="18076275" cy="69429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18076275" cy="3406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37"/>
                </a:lnSpc>
              </a:pPr>
              <a:r>
                <a:rPr lang="en-US" sz="7875" spc="-315">
                  <a:solidFill>
                    <a:srgbClr val="523E27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MONTHLY SALES GROWTH</a:t>
              </a:r>
            </a:p>
            <a:p>
              <a:pPr algn="l" marL="0" indent="0" lvl="0">
                <a:lnSpc>
                  <a:spcPts val="10237"/>
                </a:lnSpc>
              </a:pPr>
              <a:r>
                <a:rPr lang="en-US" sz="7875" spc="-315">
                  <a:solidFill>
                    <a:srgbClr val="523E27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Dashboard analysis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01426"/>
              <a:ext cx="18076275" cy="224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</a:pPr>
              <a:r>
                <a:rPr lang="en-US" sz="3199" u="none">
                  <a:solidFill>
                    <a:srgbClr val="CE685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BUSINESS PERFORMANCE REVIEW &amp; STRATEGIC RECOMMENDATIONS</a:t>
              </a:r>
            </a:p>
            <a:p>
              <a:pPr algn="l" marL="0" indent="0" lvl="0">
                <a:lnSpc>
                  <a:spcPts val="4199"/>
                </a:lnSpc>
              </a:pPr>
              <a:r>
                <a:rPr lang="en-US" sz="2799" u="none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Prepared by: [Madhuja]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0">
              <a:off x="0" y="3811386"/>
              <a:ext cx="1324627" cy="223120"/>
            </a:xfrm>
            <a:prstGeom prst="rect">
              <a:avLst/>
            </a:prstGeom>
            <a:solidFill>
              <a:srgbClr val="523E27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523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30422" y="5138738"/>
            <a:ext cx="7418719" cy="9525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884316" cy="10287000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214910" y="4129547"/>
            <a:ext cx="5435446" cy="208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70"/>
              </a:lnSpc>
            </a:pPr>
            <a:r>
              <a:rPr lang="en-US" sz="7427" spc="-297">
                <a:solidFill>
                  <a:srgbClr val="CE6857"/>
                </a:solidFill>
                <a:latin typeface="Tenor Sans"/>
                <a:ea typeface="Tenor Sans"/>
                <a:cs typeface="Tenor Sans"/>
                <a:sym typeface="Tenor Sans"/>
              </a:rPr>
              <a:t>Executive summary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23034" y="1837339"/>
            <a:ext cx="5926107" cy="1910034"/>
            <a:chOff x="0" y="0"/>
            <a:chExt cx="7901476" cy="25467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90147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</a:pPr>
              <a:r>
                <a:rPr lang="en-US" sz="2765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OBJECTIVE: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1965"/>
              <a:ext cx="7901476" cy="1724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13"/>
                </a:lnSpc>
              </a:pPr>
              <a:r>
                <a:rPr lang="en-US" sz="250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Analyze monthly sales performance to identify growth opportunities and profitability drivers.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23034" y="6276191"/>
            <a:ext cx="5926107" cy="3728695"/>
            <a:chOff x="0" y="0"/>
            <a:chExt cx="7901476" cy="497159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790147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8"/>
                </a:lnSpc>
              </a:pPr>
              <a:r>
                <a:rPr lang="en-US" sz="2765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KEY FINDINGS: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1965"/>
              <a:ext cx="7901476" cy="4149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47111" indent="-273555" lvl="1">
                <a:lnSpc>
                  <a:spcPts val="3547"/>
                </a:lnSpc>
                <a:buFont typeface="Arial"/>
                <a:buChar char="•"/>
              </a:pPr>
              <a:r>
                <a:rPr lang="en-US" sz="2534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Total Sales: 29M</a:t>
              </a:r>
            </a:p>
            <a:p>
              <a:pPr algn="l" marL="547111" indent="-273555" lvl="1">
                <a:lnSpc>
                  <a:spcPts val="3547"/>
                </a:lnSpc>
                <a:buFont typeface="Arial"/>
                <a:buChar char="•"/>
              </a:pPr>
              <a:r>
                <a:rPr lang="en-US" sz="2534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Total Profit: 8M</a:t>
              </a:r>
            </a:p>
            <a:p>
              <a:pPr algn="l" marL="547111" indent="-273555" lvl="1">
                <a:lnSpc>
                  <a:spcPts val="3547"/>
                </a:lnSpc>
                <a:buFont typeface="Arial"/>
                <a:buChar char="•"/>
              </a:pPr>
              <a:r>
                <a:rPr lang="en-US" sz="2534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Average Sales Growth: 26.35%</a:t>
              </a:r>
            </a:p>
            <a:p>
              <a:pPr algn="l" marL="547111" indent="-273555" lvl="1">
                <a:lnSpc>
                  <a:spcPts val="3547"/>
                </a:lnSpc>
                <a:buFont typeface="Arial"/>
                <a:buChar char="•"/>
              </a:pPr>
              <a:r>
                <a:rPr lang="en-US" sz="2534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Regional and product performance varies significantly</a:t>
              </a:r>
            </a:p>
            <a:p>
              <a:pPr algn="l" marL="547111" indent="-273555" lvl="1">
                <a:lnSpc>
                  <a:spcPts val="3547"/>
                </a:lnSpc>
                <a:buFont typeface="Arial"/>
                <a:buChar char="•"/>
              </a:pPr>
              <a:r>
                <a:rPr lang="en-US" sz="2534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Sales show a noticeable decline after the initial months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0" y="1904014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342866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E6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16050" y="3704468"/>
            <a:ext cx="7340600" cy="6306049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2509492" y="1942321"/>
            <a:ext cx="13269016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59"/>
              </a:lnSpc>
            </a:pPr>
            <a:r>
              <a:rPr lang="en-US" sz="7199" spc="-287">
                <a:solidFill>
                  <a:srgbClr val="E8CFC1"/>
                </a:solidFill>
                <a:latin typeface="Tenor Sans"/>
                <a:ea typeface="Tenor Sans"/>
                <a:cs typeface="Tenor Sans"/>
                <a:sym typeface="Tenor Sans"/>
              </a:rPr>
              <a:t>Business problem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89550" y="5812636"/>
            <a:ext cx="5793600" cy="2247890"/>
            <a:chOff x="0" y="0"/>
            <a:chExt cx="7724801" cy="29971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36372"/>
              <a:ext cx="7724801" cy="1760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97"/>
                </a:lnSpc>
              </a:pPr>
              <a:r>
                <a:rPr lang="en-US" sz="2569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The business is experiencing inconsistent sales growth despite generating substantial revenue.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772480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0"/>
                </a:lnSpc>
              </a:pPr>
              <a:r>
                <a:rPr lang="en-US" sz="38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PROBLEM:</a:t>
              </a:r>
            </a:p>
          </p:txBody>
        </p:sp>
      </p:grpSp>
      <p:sp>
        <p:nvSpPr>
          <p:cNvPr name="AutoShape 7" id="7"/>
          <p:cNvSpPr/>
          <p:nvPr/>
        </p:nvSpPr>
        <p:spPr>
          <a:xfrm rot="0">
            <a:off x="9531350" y="3704468"/>
            <a:ext cx="7340600" cy="6306049"/>
          </a:xfrm>
          <a:prstGeom prst="rect">
            <a:avLst/>
          </a:prstGeom>
          <a:solidFill>
            <a:srgbClr val="E8CFC1"/>
          </a:solidFill>
        </p:spPr>
      </p:sp>
      <p:grpSp>
        <p:nvGrpSpPr>
          <p:cNvPr name="Group 8" id="8"/>
          <p:cNvGrpSpPr/>
          <p:nvPr/>
        </p:nvGrpSpPr>
        <p:grpSpPr>
          <a:xfrm rot="0">
            <a:off x="10304850" y="4339486"/>
            <a:ext cx="5793600" cy="5194189"/>
            <a:chOff x="0" y="0"/>
            <a:chExt cx="7724801" cy="69255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236372"/>
              <a:ext cx="7724801" cy="5689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28"/>
                </a:lnSpc>
              </a:pPr>
              <a:r>
                <a:rPr lang="en-US" sz="2448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- Why are sales declining after the initial months?</a:t>
              </a:r>
            </a:p>
            <a:p>
              <a:pPr algn="ctr" marL="0" indent="0" lvl="0">
                <a:lnSpc>
                  <a:spcPts val="3428"/>
                </a:lnSpc>
              </a:pPr>
            </a:p>
            <a:p>
              <a:pPr algn="ctr" marL="0" indent="0" lvl="0">
                <a:lnSpc>
                  <a:spcPts val="3428"/>
                </a:lnSpc>
              </a:pPr>
              <a:r>
                <a:rPr lang="en-US" sz="2448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- Which regions generate maximum profitability?</a:t>
              </a:r>
            </a:p>
            <a:p>
              <a:pPr algn="ctr" marL="0" indent="0" lvl="0">
                <a:lnSpc>
                  <a:spcPts val="3428"/>
                </a:lnSpc>
              </a:pPr>
            </a:p>
            <a:p>
              <a:pPr algn="ctr" marL="0" indent="0" lvl="0">
                <a:lnSpc>
                  <a:spcPts val="3428"/>
                </a:lnSpc>
              </a:pPr>
              <a:r>
                <a:rPr lang="en-US" sz="2448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- Which products drive business growth?</a:t>
              </a:r>
            </a:p>
            <a:p>
              <a:pPr algn="ctr" marL="0" indent="0" lvl="0">
                <a:lnSpc>
                  <a:spcPts val="3428"/>
                </a:lnSpc>
              </a:pPr>
            </a:p>
            <a:p>
              <a:pPr algn="ctr" marL="0" indent="0" lvl="0">
                <a:lnSpc>
                  <a:spcPts val="3428"/>
                </a:lnSpc>
              </a:pPr>
              <a:r>
                <a:rPr lang="en-US" sz="2448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- How can profitability and growth be improved?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7724801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0"/>
                </a:lnSpc>
              </a:pPr>
              <a:r>
                <a:rPr lang="en-US" sz="38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BUSINESS QUESTIONS: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23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477251"/>
            <a:chOff x="0" y="0"/>
            <a:chExt cx="21031200" cy="1969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969663"/>
            </a:xfrm>
            <a:custGeom>
              <a:avLst/>
              <a:gdLst/>
              <a:ahLst/>
              <a:cxnLst/>
              <a:rect r="r" b="b" t="t" l="l"/>
              <a:pathLst>
                <a:path h="196966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69663"/>
                  </a:lnTo>
                  <a:lnTo>
                    <a:pt x="0" y="19696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627" r="0" b="-14247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1031200" cy="1912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sz="5940">
                  <a:solidFill>
                    <a:srgbClr val="E8CFC1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DASHBOARD OVERVIEW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9736" y="547688"/>
            <a:ext cx="17328528" cy="9460718"/>
            <a:chOff x="0" y="0"/>
            <a:chExt cx="23104704" cy="12614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04729" cy="12614232"/>
            </a:xfrm>
            <a:custGeom>
              <a:avLst/>
              <a:gdLst/>
              <a:ahLst/>
              <a:cxnLst/>
              <a:rect r="r" b="b" t="t" l="l"/>
              <a:pathLst>
                <a:path h="12614232" w="23104729">
                  <a:moveTo>
                    <a:pt x="0" y="0"/>
                  </a:moveTo>
                  <a:lnTo>
                    <a:pt x="23104729" y="0"/>
                  </a:lnTo>
                  <a:lnTo>
                    <a:pt x="23104729" y="12614232"/>
                  </a:lnTo>
                  <a:lnTo>
                    <a:pt x="0" y="12614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0" t="0" r="-489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CE6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97427" y="3348605"/>
            <a:ext cx="18682855" cy="7073476"/>
          </a:xfrm>
          <a:prstGeom prst="rect">
            <a:avLst/>
          </a:prstGeom>
          <a:solidFill>
            <a:srgbClr val="E8CFC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02698" y="501800"/>
            <a:ext cx="14998853" cy="1962372"/>
            <a:chOff x="0" y="0"/>
            <a:chExt cx="19998470" cy="26164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35098"/>
              <a:ext cx="19998470" cy="1281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78"/>
                </a:lnSpc>
              </a:pPr>
              <a:r>
                <a:rPr lang="en-US" sz="6315" spc="-252">
                  <a:solidFill>
                    <a:srgbClr val="E8CFC1"/>
                  </a:solidFill>
                  <a:latin typeface="Tenor Sans"/>
                  <a:ea typeface="Tenor Sans"/>
                  <a:cs typeface="Tenor Sans"/>
                  <a:sym typeface="Tenor Sans"/>
                </a:rPr>
                <a:t>KPI performance summary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16216083" cy="838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2698" y="3939709"/>
            <a:ext cx="6791267" cy="5166509"/>
            <a:chOff x="0" y="0"/>
            <a:chExt cx="9055023" cy="68886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63705"/>
              <a:ext cx="6918651" cy="59249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Total Sales: 29M</a:t>
              </a:r>
            </a:p>
            <a:p>
              <a:pPr algn="just">
                <a:lnSpc>
                  <a:spcPts val="3919"/>
                </a:lnSpc>
              </a:pPr>
            </a:p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Total Profit: 8M</a:t>
              </a:r>
            </a:p>
            <a:p>
              <a:pPr algn="just">
                <a:lnSpc>
                  <a:spcPts val="3919"/>
                </a:lnSpc>
              </a:pPr>
            </a:p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Avg. Sales Growth: 26.35%</a:t>
              </a:r>
            </a:p>
            <a:p>
              <a:pPr algn="just">
                <a:lnSpc>
                  <a:spcPts val="3919"/>
                </a:lnSpc>
              </a:pPr>
            </a:p>
            <a:p>
              <a:pPr algn="just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Sales volume is strong but requires optimization to improve long-term growth.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9055023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289"/>
                </a:lnSpc>
              </a:pPr>
              <a:r>
                <a:rPr lang="en-US" sz="3299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OBSERVATION: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523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30422" y="5138738"/>
            <a:ext cx="7418719" cy="9525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884316" cy="10287000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214910" y="4170036"/>
            <a:ext cx="5435446" cy="199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56"/>
              </a:lnSpc>
            </a:pPr>
            <a:r>
              <a:rPr lang="en-US" sz="7051" spc="-282">
                <a:solidFill>
                  <a:srgbClr val="CE6857"/>
                </a:solidFill>
                <a:latin typeface="Tenor Sans"/>
                <a:ea typeface="Tenor Sans"/>
                <a:cs typeface="Tenor Sans"/>
                <a:sym typeface="Tenor Sans"/>
              </a:rPr>
              <a:t>Monthly trend analysis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23034" y="1837339"/>
            <a:ext cx="5926107" cy="2396061"/>
            <a:chOff x="0" y="0"/>
            <a:chExt cx="7901476" cy="319474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901476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7"/>
                </a:lnSpc>
              </a:pPr>
              <a:r>
                <a:rPr lang="en-US" sz="3064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INSIGHTS: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94990"/>
              <a:ext cx="7901476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Peak sales observed in early months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Sharp decline from March onward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Recovery remained limited through year-end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23034" y="6276191"/>
            <a:ext cx="5926107" cy="1957911"/>
            <a:chOff x="0" y="0"/>
            <a:chExt cx="7901476" cy="26105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7901476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7"/>
                </a:lnSpc>
              </a:pPr>
              <a:r>
                <a:rPr lang="en-US" sz="3064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BUSINESS IMPACT: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94990"/>
              <a:ext cx="7901476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Reduced revenue momentum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Potential seasonal or operational challenges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0" y="1904014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342866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23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530422" y="5138738"/>
            <a:ext cx="7418719" cy="9525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884316" cy="10287000"/>
          </a:xfrm>
          <a:prstGeom prst="rect">
            <a:avLst/>
          </a:prstGeom>
          <a:solidFill>
            <a:srgbClr val="E8CFC1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214910" y="3615197"/>
            <a:ext cx="5435446" cy="311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70"/>
              </a:lnSpc>
            </a:pPr>
            <a:r>
              <a:rPr lang="en-US" sz="7427" spc="-297">
                <a:solidFill>
                  <a:srgbClr val="CE6857"/>
                </a:solidFill>
                <a:latin typeface="Tenor Sans"/>
                <a:ea typeface="Tenor Sans"/>
                <a:cs typeface="Tenor Sans"/>
                <a:sym typeface="Tenor Sans"/>
              </a:rPr>
              <a:t>Regional Profit Analysis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23034" y="1837339"/>
            <a:ext cx="5926107" cy="1984994"/>
            <a:chOff x="0" y="0"/>
            <a:chExt cx="7901476" cy="264665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901476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7"/>
                </a:lnSpc>
              </a:pPr>
              <a:r>
                <a:rPr lang="en-US" sz="3064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FINDINGS: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85465"/>
              <a:ext cx="7901476" cy="1761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2433" indent="-276217" lvl="1">
                <a:lnSpc>
                  <a:spcPts val="3582"/>
                </a:lnSpc>
                <a:buFont typeface="Arial"/>
                <a:buChar char="•"/>
              </a:pPr>
              <a:r>
                <a:rPr lang="en-US" sz="2558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North and South regions contribute the highest profits</a:t>
              </a:r>
            </a:p>
            <a:p>
              <a:pPr algn="l" marL="552433" indent="-276217" lvl="1">
                <a:lnSpc>
                  <a:spcPts val="3582"/>
                </a:lnSpc>
                <a:buFont typeface="Arial"/>
                <a:buChar char="•"/>
              </a:pPr>
              <a:r>
                <a:rPr lang="en-US" sz="2558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East region underperforms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23034" y="6276191"/>
            <a:ext cx="5926107" cy="1537319"/>
            <a:chOff x="0" y="0"/>
            <a:chExt cx="7901476" cy="20497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7901476" cy="62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7"/>
                </a:lnSpc>
                <a:spcBef>
                  <a:spcPct val="0"/>
                </a:spcBef>
              </a:pPr>
              <a:r>
                <a:rPr lang="en-US" sz="3064" strike="noStrike" u="none">
                  <a:solidFill>
                    <a:srgbClr val="F2BD99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OPPORTUNITIES: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85465"/>
              <a:ext cx="7901476" cy="11642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2433" indent="-276217" lvl="1">
                <a:lnSpc>
                  <a:spcPts val="3582"/>
                </a:lnSpc>
                <a:buFont typeface="Arial"/>
                <a:buChar char="•"/>
              </a:pPr>
              <a:r>
                <a:rPr lang="en-US" sz="2558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Expand successful regional strategies</a:t>
              </a:r>
            </a:p>
            <a:p>
              <a:pPr algn="l" marL="552433" indent="-276217" lvl="1">
                <a:lnSpc>
                  <a:spcPts val="3582"/>
                </a:lnSpc>
                <a:buFont typeface="Arial"/>
                <a:buChar char="•"/>
              </a:pPr>
              <a:r>
                <a:rPr lang="en-US" sz="2558">
                  <a:solidFill>
                    <a:srgbClr val="E8CFC1"/>
                  </a:solidFill>
                  <a:latin typeface="Forum"/>
                  <a:ea typeface="Forum"/>
                  <a:cs typeface="Forum"/>
                  <a:sym typeface="Forum"/>
                </a:rPr>
                <a:t>Investigate lower-performing markets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0" y="1904014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342866"/>
            <a:ext cx="140278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99"/>
              </a:lnSpc>
            </a:pPr>
            <a:r>
              <a:rPr lang="en-US" sz="6999">
                <a:solidFill>
                  <a:srgbClr val="E8CFC1">
                    <a:alpha val="49804"/>
                  </a:srgbClr>
                </a:solidFill>
                <a:latin typeface="Biryani Light"/>
                <a:ea typeface="Biryani Light"/>
                <a:cs typeface="Biryani Light"/>
                <a:sym typeface="Biryani Light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6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47320"/>
            <a:ext cx="16230600" cy="2759043"/>
            <a:chOff x="0" y="0"/>
            <a:chExt cx="21640800" cy="3678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00" cy="3678718"/>
            </a:xfrm>
            <a:custGeom>
              <a:avLst/>
              <a:gdLst/>
              <a:ahLst/>
              <a:cxnLst/>
              <a:rect r="r" b="b" t="t" l="l"/>
              <a:pathLst>
                <a:path h="3678718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678718"/>
                  </a:lnTo>
                  <a:lnTo>
                    <a:pt x="0" y="3678718"/>
                  </a:lnTo>
                  <a:close/>
                </a:path>
              </a:pathLst>
            </a:custGeom>
            <a:solidFill>
              <a:srgbClr val="523E27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1640800" cy="3621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7"/>
                </a:lnSpc>
              </a:pPr>
              <a:r>
                <a:rPr lang="en-US" sz="6339" spc="-253">
                  <a:solidFill>
                    <a:srgbClr val="E8CFC1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Product Performance Analysis</a:t>
              </a:r>
            </a:p>
            <a:p>
              <a:pPr algn="l">
                <a:lnSpc>
                  <a:spcPts val="4368"/>
                </a:lnSpc>
              </a:pPr>
              <a:r>
                <a:rPr lang="en-US" sz="4044">
                  <a:solidFill>
                    <a:srgbClr val="E8CFC1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PRODUCT CONTRIBUTION:</a:t>
              </a:r>
            </a:p>
            <a:p>
              <a:pPr algn="l">
                <a:lnSpc>
                  <a:spcPts val="684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9681" y="2521744"/>
            <a:ext cx="7736681" cy="1771657"/>
            <a:chOff x="0" y="0"/>
            <a:chExt cx="10315575" cy="2362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15574" cy="2362209"/>
            </a:xfrm>
            <a:custGeom>
              <a:avLst/>
              <a:gdLst/>
              <a:ahLst/>
              <a:cxnLst/>
              <a:rect r="r" b="b" t="t" l="l"/>
              <a:pathLst>
                <a:path h="2362209" w="10315574">
                  <a:moveTo>
                    <a:pt x="0" y="0"/>
                  </a:moveTo>
                  <a:lnTo>
                    <a:pt x="10315574" y="0"/>
                  </a:lnTo>
                  <a:lnTo>
                    <a:pt x="10315574" y="2362209"/>
                  </a:lnTo>
                  <a:lnTo>
                    <a:pt x="0" y="23622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10" r="0" b="-199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0315575" cy="23145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751"/>
                </a:lnSpc>
              </a:pPr>
              <a:r>
                <a:rPr lang="en-US" sz="4399" u="sng">
                  <a:solidFill>
                    <a:srgbClr val="E8CFC1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TOP PERFORMERS:</a:t>
              </a:r>
            </a:p>
            <a:p>
              <a:pPr algn="l">
                <a:lnSpc>
                  <a:spcPts val="47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58300" y="2521744"/>
            <a:ext cx="7774781" cy="1771657"/>
            <a:chOff x="0" y="0"/>
            <a:chExt cx="10366375" cy="2362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66376" cy="2362209"/>
            </a:xfrm>
            <a:custGeom>
              <a:avLst/>
              <a:gdLst/>
              <a:ahLst/>
              <a:cxnLst/>
              <a:rect r="r" b="b" t="t" l="l"/>
              <a:pathLst>
                <a:path h="2362209" w="10366376">
                  <a:moveTo>
                    <a:pt x="0" y="0"/>
                  </a:moveTo>
                  <a:lnTo>
                    <a:pt x="10366376" y="0"/>
                  </a:lnTo>
                  <a:lnTo>
                    <a:pt x="10366376" y="2362209"/>
                  </a:lnTo>
                  <a:lnTo>
                    <a:pt x="0" y="23622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29" r="0" b="-2038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0366375" cy="231458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643"/>
                </a:lnSpc>
              </a:pPr>
              <a:r>
                <a:rPr lang="en-US" sz="4299" u="sng">
                  <a:solidFill>
                    <a:srgbClr val="E8CFC1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LOWER CONTRIBUTORS:</a:t>
              </a:r>
            </a:p>
            <a:p>
              <a:pPr algn="l">
                <a:lnSpc>
                  <a:spcPts val="464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1121" y="3922843"/>
            <a:ext cx="7553801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8" indent="-36194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Printer</a:t>
            </a:r>
          </a:p>
          <a:p>
            <a:pPr algn="l" marL="723898" indent="-36194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Tablet</a:t>
            </a:r>
          </a:p>
          <a:p>
            <a:pPr algn="l" marL="723898" indent="-36194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Laptop</a:t>
            </a:r>
          </a:p>
          <a:p>
            <a:pPr algn="l" marL="723898" indent="-361949" lvl="1">
              <a:lnSpc>
                <a:spcPts val="43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349740" y="3841432"/>
            <a:ext cx="7591901" cy="15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1995" indent="-370998" lvl="1">
              <a:lnSpc>
                <a:spcPts val="4427"/>
              </a:lnSpc>
              <a:buFont typeface="Arial"/>
              <a:buChar char="•"/>
            </a:pPr>
            <a:r>
              <a:rPr lang="en-US" sz="4099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Monitor</a:t>
            </a:r>
          </a:p>
          <a:p>
            <a:pPr algn="l" marL="651510" indent="-325755" lvl="1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Mobile</a:t>
            </a:r>
          </a:p>
          <a:p>
            <a:pPr algn="l" marL="651510" indent="-325755" lvl="1">
              <a:lnSpc>
                <a:spcPts val="388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19302" y="8062312"/>
            <a:ext cx="1530640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799">
                <a:solidFill>
                  <a:srgbClr val="E8CFC1"/>
                </a:solidFill>
                <a:latin typeface="Biryani Light"/>
                <a:ea typeface="Biryani Light"/>
                <a:cs typeface="Biryani Light"/>
                <a:sym typeface="Biryani Light"/>
              </a:rPr>
              <a:t>RECOMMENDATION: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u="sng">
                <a:solidFill>
                  <a:srgbClr val="E8CFC1"/>
                </a:solidFill>
                <a:latin typeface="Forum"/>
                <a:ea typeface="Forum"/>
                <a:cs typeface="Forum"/>
                <a:sym typeface="Forum"/>
              </a:rPr>
              <a:t>Focus inventory and marketing on high-performing products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8C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5727" y="7118128"/>
            <a:ext cx="10393573" cy="2059009"/>
            <a:chOff x="0" y="0"/>
            <a:chExt cx="13858097" cy="274534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3858097" cy="181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10665"/>
                </a:lnSpc>
              </a:pPr>
              <a:r>
                <a:rPr lang="en-US" sz="8887" spc="-355">
                  <a:solidFill>
                    <a:srgbClr val="523E27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Root Cause Analysis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04512"/>
              <a:ext cx="13858097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POTENTIAL DRIVERS: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69790"/>
            <a:ext cx="4232004" cy="1264180"/>
            <a:chOff x="0" y="0"/>
            <a:chExt cx="5642673" cy="168557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6228"/>
              <a:ext cx="5383645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99773"/>
              <a:ext cx="538364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Demand fluctuations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6350"/>
              <a:ext cx="5642673" cy="0"/>
            </a:xfrm>
            <a:prstGeom prst="line">
              <a:avLst/>
            </a:prstGeom>
            <a:ln cap="rnd" w="12700">
              <a:solidFill>
                <a:srgbClr val="CE685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3247097"/>
            <a:ext cx="4232004" cy="1261840"/>
            <a:chOff x="0" y="0"/>
            <a:chExt cx="5642673" cy="168245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2865"/>
              <a:ext cx="5383645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04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96653"/>
              <a:ext cx="538364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Marketing effectiveness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6350"/>
              <a:ext cx="5642673" cy="0"/>
            </a:xfrm>
            <a:prstGeom prst="line">
              <a:avLst/>
            </a:prstGeom>
            <a:ln cap="rnd" w="12700">
              <a:solidFill>
                <a:srgbClr val="CE685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872256" y="869790"/>
            <a:ext cx="4232004" cy="1264180"/>
            <a:chOff x="0" y="0"/>
            <a:chExt cx="5642673" cy="168557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46228"/>
              <a:ext cx="5383645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99773"/>
              <a:ext cx="5642673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Regional sales imbalance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0" y="6350"/>
              <a:ext cx="5642673" cy="0"/>
            </a:xfrm>
            <a:prstGeom prst="line">
              <a:avLst/>
            </a:prstGeom>
            <a:ln cap="rnd" w="12700">
              <a:solidFill>
                <a:srgbClr val="CE685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872256" y="3247097"/>
            <a:ext cx="4232004" cy="1795240"/>
            <a:chOff x="0" y="0"/>
            <a:chExt cx="5642673" cy="239365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52865"/>
              <a:ext cx="5383645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05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996653"/>
              <a:ext cx="5383645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Seasonal purchasing behavior</a:t>
              </a:r>
            </a:p>
          </p:txBody>
        </p:sp>
        <p:sp>
          <p:nvSpPr>
            <p:cNvPr name="AutoShape 20" id="20"/>
            <p:cNvSpPr/>
            <p:nvPr/>
          </p:nvSpPr>
          <p:spPr>
            <a:xfrm>
              <a:off x="0" y="6350"/>
              <a:ext cx="5642673" cy="0"/>
            </a:xfrm>
            <a:prstGeom prst="line">
              <a:avLst/>
            </a:prstGeom>
            <a:ln cap="rnd" w="12700">
              <a:solidFill>
                <a:srgbClr val="CE685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640695" y="869790"/>
            <a:ext cx="4232004" cy="1264180"/>
            <a:chOff x="0" y="0"/>
            <a:chExt cx="5642673" cy="168557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146228"/>
              <a:ext cx="5383645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99773"/>
              <a:ext cx="538364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Product mix inefficiencies</a:t>
              </a:r>
            </a:p>
          </p:txBody>
        </p:sp>
        <p:sp>
          <p:nvSpPr>
            <p:cNvPr name="AutoShape 24" id="24"/>
            <p:cNvSpPr/>
            <p:nvPr/>
          </p:nvSpPr>
          <p:spPr>
            <a:xfrm>
              <a:off x="0" y="6350"/>
              <a:ext cx="5642673" cy="0"/>
            </a:xfrm>
            <a:prstGeom prst="line">
              <a:avLst/>
            </a:prstGeom>
            <a:ln cap="rnd" w="12700">
              <a:solidFill>
                <a:srgbClr val="CE6857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8C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5697" y="793573"/>
            <a:ext cx="17396238" cy="8699854"/>
            <a:chOff x="0" y="0"/>
            <a:chExt cx="8749027" cy="437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49026" cy="4375386"/>
            </a:xfrm>
            <a:custGeom>
              <a:avLst/>
              <a:gdLst/>
              <a:ahLst/>
              <a:cxnLst/>
              <a:rect r="r" b="b" t="t" l="l"/>
              <a:pathLst>
                <a:path h="4375386" w="8749026">
                  <a:moveTo>
                    <a:pt x="0" y="0"/>
                  </a:moveTo>
                  <a:lnTo>
                    <a:pt x="0" y="4375386"/>
                  </a:lnTo>
                  <a:lnTo>
                    <a:pt x="8749026" y="4375386"/>
                  </a:lnTo>
                  <a:lnTo>
                    <a:pt x="8749026" y="0"/>
                  </a:lnTo>
                  <a:lnTo>
                    <a:pt x="0" y="0"/>
                  </a:lnTo>
                  <a:close/>
                  <a:moveTo>
                    <a:pt x="8688067" y="4314426"/>
                  </a:moveTo>
                  <a:lnTo>
                    <a:pt x="59690" y="4314426"/>
                  </a:lnTo>
                  <a:lnTo>
                    <a:pt x="59690" y="59690"/>
                  </a:lnTo>
                  <a:lnTo>
                    <a:pt x="8688067" y="59690"/>
                  </a:lnTo>
                  <a:lnTo>
                    <a:pt x="8688067" y="4314426"/>
                  </a:lnTo>
                  <a:close/>
                </a:path>
              </a:pathLst>
            </a:custGeom>
            <a:solidFill>
              <a:srgbClr val="523E2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96193" y="1880837"/>
            <a:ext cx="12741423" cy="6525327"/>
            <a:chOff x="0" y="0"/>
            <a:chExt cx="16988563" cy="870043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741596"/>
              <a:ext cx="16988563" cy="5958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 u="sng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SHORT-TERM ACTIONS: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Launch regional campaigns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Increase focus on top-selling products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Improve sales monitoring</a:t>
              </a:r>
            </a:p>
            <a:p>
              <a:pPr algn="l" marL="0" indent="0" lvl="0">
                <a:lnSpc>
                  <a:spcPts val="4900"/>
                </a:lnSpc>
                <a:spcBef>
                  <a:spcPct val="0"/>
                </a:spcBef>
              </a:pPr>
              <a:r>
                <a:rPr lang="en-US" sz="3500" u="sng">
                  <a:solidFill>
                    <a:srgbClr val="523E27"/>
                  </a:solidFill>
                  <a:latin typeface="Biryani Light"/>
                  <a:ea typeface="Biryani Light"/>
                  <a:cs typeface="Biryani Light"/>
                  <a:sym typeface="Biryani Light"/>
                </a:rPr>
                <a:t>LONG-TERM ACTIONS: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Build forecasting models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Diversify product portfolio</a:t>
              </a:r>
            </a:p>
            <a:p>
              <a:pPr algn="l" marL="0" indent="0" lvl="0">
                <a:lnSpc>
                  <a:spcPts val="4340"/>
                </a:lnSpc>
                <a:spcBef>
                  <a:spcPct val="0"/>
                </a:spcBef>
              </a:pPr>
              <a:r>
                <a:rPr lang="en-US" sz="3100">
                  <a:solidFill>
                    <a:srgbClr val="523E27"/>
                  </a:solidFill>
                  <a:latin typeface="Forum"/>
                  <a:ea typeface="Forum"/>
                  <a:cs typeface="Forum"/>
                  <a:sym typeface="Forum"/>
                </a:rPr>
                <a:t>✓ Optimize profit margins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6988563" cy="1750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99"/>
                </a:lnSpc>
              </a:pPr>
              <a:r>
                <a:rPr lang="en-US" sz="9499" spc="-379">
                  <a:solidFill>
                    <a:srgbClr val="CE6857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Recommendations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CF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2052828"/>
            <a:chOff x="0" y="0"/>
            <a:chExt cx="21031200" cy="2737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737105"/>
            </a:xfrm>
            <a:custGeom>
              <a:avLst/>
              <a:gdLst/>
              <a:ahLst/>
              <a:cxnLst/>
              <a:rect r="r" b="b" t="t" l="l"/>
              <a:pathLst>
                <a:path h="2737105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737105"/>
                  </a:lnTo>
                  <a:lnTo>
                    <a:pt x="0" y="273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288" r="0" b="-9814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1031200" cy="2679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264">
                  <a:solidFill>
                    <a:srgbClr val="CE6857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Expected Business Outcomes</a:t>
              </a:r>
            </a:p>
            <a:p>
              <a:pPr algn="l">
                <a:lnSpc>
                  <a:spcPts val="712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879407"/>
            <a:ext cx="15590520" cy="516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4200" u="sng">
                <a:solidFill>
                  <a:srgbClr val="523E27"/>
                </a:solidFill>
                <a:latin typeface="Biryani Light"/>
                <a:ea typeface="Biryani Light"/>
                <a:cs typeface="Biryani Light"/>
                <a:sym typeface="Biryani Light"/>
              </a:rPr>
              <a:t>EXPECTED IMPROVEMENTS:</a:t>
            </a:r>
          </a:p>
          <a:p>
            <a:pPr algn="l" marL="760095" indent="-380048" lvl="1">
              <a:lnSpc>
                <a:spcPts val="4082"/>
              </a:lnSpc>
              <a:buFont typeface="Arial"/>
              <a:buChar char="•"/>
            </a:pPr>
            <a:r>
              <a:rPr lang="en-US" sz="4200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Increased sales consistency</a:t>
            </a:r>
          </a:p>
          <a:p>
            <a:pPr algn="l" marL="760095" indent="-380048" lvl="1">
              <a:lnSpc>
                <a:spcPts val="4082"/>
              </a:lnSpc>
              <a:buFont typeface="Arial"/>
              <a:buChar char="•"/>
            </a:pPr>
            <a:r>
              <a:rPr lang="en-US" sz="4200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Improved regional performance</a:t>
            </a:r>
          </a:p>
          <a:p>
            <a:pPr algn="l" marL="760095" indent="-380048" lvl="1">
              <a:lnSpc>
                <a:spcPts val="4082"/>
              </a:lnSpc>
              <a:buFont typeface="Arial"/>
              <a:buChar char="•"/>
            </a:pPr>
            <a:r>
              <a:rPr lang="en-US" sz="4200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Higher profit margins</a:t>
            </a:r>
          </a:p>
          <a:p>
            <a:pPr algn="l" marL="760095" indent="-380048" lvl="1">
              <a:lnSpc>
                <a:spcPts val="4082"/>
              </a:lnSpc>
              <a:buFont typeface="Arial"/>
              <a:buChar char="•"/>
            </a:pPr>
            <a:r>
              <a:rPr lang="en-US" sz="4200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Better decision-making</a:t>
            </a:r>
          </a:p>
          <a:p>
            <a:pPr algn="l" marL="760095" indent="-380048" lvl="1">
              <a:lnSpc>
                <a:spcPts val="4082"/>
              </a:lnSpc>
            </a:pPr>
          </a:p>
          <a:p>
            <a:pPr algn="l">
              <a:lnSpc>
                <a:spcPts val="4082"/>
              </a:lnSpc>
            </a:pPr>
            <a:r>
              <a:rPr lang="en-US" sz="4200" u="sng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Conclusion:</a:t>
            </a:r>
          </a:p>
          <a:p>
            <a:pPr algn="l" marL="760095" indent="-380048" lvl="1">
              <a:lnSpc>
                <a:spcPts val="4082"/>
              </a:lnSpc>
              <a:buFont typeface="Arial"/>
              <a:buChar char="•"/>
            </a:pPr>
            <a:r>
              <a:rPr lang="en-US" sz="4200">
                <a:solidFill>
                  <a:srgbClr val="523E27"/>
                </a:solidFill>
                <a:latin typeface="Forum"/>
                <a:ea typeface="Forum"/>
                <a:cs typeface="Forum"/>
                <a:sym typeface="Forum"/>
              </a:rPr>
              <a:t>Data-driven sales optimization can improve growth sustainability and maximize profitability across regions and products.</a:t>
            </a:r>
          </a:p>
          <a:p>
            <a:pPr algn="l" marL="760095" indent="-380048" lvl="1">
              <a:lnSpc>
                <a:spcPts val="408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DAHMD387gus</dc:identifier>
  <dcterms:modified xsi:type="dcterms:W3CDTF">2011-08-01T06:04:30Z</dcterms:modified>
  <cp:revision>1</cp:revision>
  <dc:title>Non Text Magic Studio Magic Design for Presentations L&amp;P</dc:title>
</cp:coreProperties>
</file>